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Illustrative ranking (not revenue values)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Rank (illustrative)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Mobile</c:v>
                </c:pt>
                <c:pt idx="2">
                  <c:v>Book</c:v>
                </c:pt>
                <c:pt idx="3">
                  <c:v>Rice</c:v>
                </c:pt>
                <c:pt idx="4">
                  <c:v>Chair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640080"/>
            <a:ext cx="2286000" cy="164592"/>
          </a:xfrm>
          <a:prstGeom prst="rect">
            <a:avLst/>
          </a:prstGeom>
          <a:solidFill>
            <a:srgbClr val="1FB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960120"/>
            <a:ext cx="1645920" cy="164592"/>
          </a:xfrm>
          <a:prstGeom prst="rect">
            <a:avLst/>
          </a:prstGeom>
          <a:solidFill>
            <a:srgbClr val="AD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5897880"/>
            <a:ext cx="2743200" cy="109728"/>
          </a:xfrm>
          <a:prstGeom prst="rect">
            <a:avLst/>
          </a:prstGeom>
          <a:solidFill>
            <a:srgbClr val="F46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8046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500" b="1">
                <a:solidFill>
                  <a:srgbClr val="ADA9FF"/>
                </a:solidFill>
                <a:latin typeface="Aptos"/>
              </a:defRPr>
            </a:pPr>
            <a:r>
              <a:t>APEXPLANET INTERNSHIP  |  TASK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875520" cy="1600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Data Storytelling &amp;</a:t>
            </a:r>
            <a:br/>
            <a:r>
              <a:t>Statistical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96012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0">
                <a:solidFill>
                  <a:srgbClr val="DBDEF4"/>
                </a:solidFill>
                <a:latin typeface="Aptos"/>
              </a:defRPr>
            </a:pPr>
            <a:r>
              <a:t>Sales analysis • Business insights • Hypothesis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50292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Prepared by: Madhavi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8686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300" b="0">
                <a:solidFill>
                  <a:srgbClr val="ADA9FF"/>
                </a:solidFill>
                <a:latin typeface="Aptos"/>
              </a:defRPr>
            </a:pPr>
            <a:r>
              <a:t>Python | Pandas | Matplotlib | Statistical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A1843"/>
                </a:solidFill>
                <a:latin typeface="Aptos"/>
              </a:defRPr>
            </a:pPr>
            <a:r>
              <a:t>Project Objective &amp; 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696F7D"/>
                </a:solidFill>
                <a:latin typeface="Aptos"/>
              </a:defRPr>
            </a:pPr>
            <a:r>
              <a:t>A concise overview of the sales dataset and the metrics used to understand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1FB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696F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300" b="1">
                <a:solidFill>
                  <a:srgbClr val="4C44AA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07899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000" b="0">
                <a:solidFill>
                  <a:srgbClr val="262837"/>
                </a:solidFill>
                <a:latin typeface="Aptos"/>
              </a:defRPr>
            </a:pPr>
            <a:r>
              <a:t>Turn transaction-level sales data into clear business insights and communicate findings with appropriate statistical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136392"/>
            <a:ext cx="3099816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1">
                <a:solidFill>
                  <a:srgbClr val="696F7D"/>
                </a:solidFill>
                <a:latin typeface="Aptos"/>
              </a:defRPr>
            </a:pPr>
            <a:r>
              <a:t>TOTAL REVENUE (reported)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538728"/>
            <a:ext cx="3099816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1FB0A1"/>
                </a:solidFill>
                <a:latin typeface="Aptos"/>
              </a:defRPr>
            </a:pPr>
            <a:r>
              <a:t>₹13,93,99,439.65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71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3136392"/>
            <a:ext cx="3099816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1">
                <a:solidFill>
                  <a:srgbClr val="696F7D"/>
                </a:solidFill>
                <a:latin typeface="Aptos"/>
              </a:defRPr>
            </a:pPr>
            <a:r>
              <a:t>TOTAL ORDERS (reported)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538728"/>
            <a:ext cx="3099816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4C44AA"/>
                </a:solidFill>
                <a:latin typeface="Aptos"/>
              </a:defRPr>
            </a:pPr>
            <a:r>
              <a:t>992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9718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3136392"/>
            <a:ext cx="3099816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1">
                <a:solidFill>
                  <a:srgbClr val="696F7D"/>
                </a:solidFill>
                <a:latin typeface="Aptos"/>
              </a:defRPr>
            </a:pPr>
            <a:r>
              <a:t>AVERAGE ORDER VALUE (reported)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3538728"/>
            <a:ext cx="3099816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F46366"/>
                </a:solidFill>
                <a:latin typeface="Aptos"/>
              </a:defRPr>
            </a:pPr>
            <a:r>
              <a:t>₹1,40,523.63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1069848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696F7D"/>
                </a:solidFill>
                <a:latin typeface="Aptos"/>
              </a:defRPr>
            </a:pPr>
            <a:r>
              <a:t>Note: KPI values are based on figures previously discussed; verify against the final notebook before submission.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A1843"/>
                </a:solidFill>
                <a:latin typeface="Aptos"/>
              </a:defRPr>
            </a:pPr>
            <a:r>
              <a:t>Product Revenue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696F7D"/>
                </a:solidFill>
                <a:latin typeface="Aptos"/>
              </a:defRPr>
            </a:pPr>
            <a:r>
              <a:t>Use the top-product ranking from the analysis to identify products that contribute strongly to sales.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1FB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696F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7548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4C44AA"/>
                </a:solidFill>
                <a:latin typeface="Aptos"/>
              </a:defRPr>
            </a:pPr>
            <a:r>
              <a:t>Top products listed in the working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114800" cy="29260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62837"/>
                </a:solidFill>
                <a:latin typeface="Aptos"/>
              </a:defRPr>
            </a:pPr>
            <a:r>
              <a:t>Laptop</a:t>
            </a:r>
          </a:p>
          <a:p>
            <a:pPr>
              <a:spcAft>
                <a:spcPts val="1400"/>
              </a:spcAft>
              <a:defRPr sz="2000">
                <a:solidFill>
                  <a:srgbClr val="262837"/>
                </a:solidFill>
                <a:latin typeface="Aptos"/>
              </a:defRPr>
            </a:pPr>
            <a:r>
              <a:t>Mobile</a:t>
            </a:r>
          </a:p>
          <a:p>
            <a:pPr>
              <a:spcAft>
                <a:spcPts val="1400"/>
              </a:spcAft>
              <a:defRPr sz="2000">
                <a:solidFill>
                  <a:srgbClr val="262837"/>
                </a:solidFill>
                <a:latin typeface="Aptos"/>
              </a:defRPr>
            </a:pPr>
            <a:r>
              <a:t>Book</a:t>
            </a:r>
          </a:p>
          <a:p>
            <a:pPr>
              <a:spcAft>
                <a:spcPts val="1400"/>
              </a:spcAft>
              <a:defRPr sz="2000">
                <a:solidFill>
                  <a:srgbClr val="262837"/>
                </a:solidFill>
                <a:latin typeface="Aptos"/>
              </a:defRPr>
            </a:pPr>
            <a:r>
              <a:t>Rice</a:t>
            </a:r>
          </a:p>
          <a:p>
            <a:pPr>
              <a:spcAft>
                <a:spcPts val="1400"/>
              </a:spcAft>
              <a:defRPr sz="2000">
                <a:solidFill>
                  <a:srgbClr val="262837"/>
                </a:solidFill>
                <a:latin typeface="Aptos"/>
              </a:defRPr>
            </a:pPr>
            <a:r>
              <a:t>Chair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0" y="164592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806440"/>
            <a:ext cx="10789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100" b="0">
                <a:solidFill>
                  <a:srgbClr val="696F7D"/>
                </a:solidFill>
                <a:latin typeface="Aptos"/>
              </a:defRPr>
            </a:pPr>
            <a:r>
              <a:t>Replace the illustrative ranking with actual revenue values if your notebook shows different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A1843"/>
                </a:solidFill>
                <a:latin typeface="Aptos"/>
              </a:defRPr>
            </a:pPr>
            <a:r>
              <a:t>Category &amp; 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696F7D"/>
                </a:solidFill>
                <a:latin typeface="Aptos"/>
              </a:defRPr>
            </a:pPr>
            <a:r>
              <a:t>Compare revenue across product categories and locations to identify business opportunities.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1FB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696F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56232"/>
            <a:ext cx="4791455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1">
                <a:solidFill>
                  <a:srgbClr val="696F7D"/>
                </a:solidFill>
                <a:latin typeface="Aptos"/>
              </a:defRPr>
            </a:pPr>
            <a:r>
              <a:t>CATEGORY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58568"/>
            <a:ext cx="4791455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1FB0A1"/>
                </a:solidFill>
                <a:latin typeface="Aptos"/>
              </a:defRPr>
            </a:pPr>
            <a:r>
              <a:t>Electronics reported highest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856232"/>
            <a:ext cx="4791455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1">
                <a:solidFill>
                  <a:srgbClr val="696F7D"/>
                </a:solidFill>
                <a:latin typeface="Aptos"/>
              </a:defRPr>
            </a:pPr>
            <a:r>
              <a:t>CITY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258568"/>
            <a:ext cx="4791455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4C44AA"/>
                </a:solidFill>
                <a:latin typeface="Aptos"/>
              </a:defRPr>
            </a:pPr>
            <a:r>
              <a:t>Patna reported highest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800" b="1">
                <a:solidFill>
                  <a:srgbClr val="1A1843"/>
                </a:solidFill>
                <a:latin typeface="Aptos"/>
              </a:defRPr>
            </a:pPr>
            <a:r>
              <a:t>What this can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10241280" cy="182880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Review inventory and promotions for high-performing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Compare customer demand and product mix across cities.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Validate these observations against the final category and city charts.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A1843"/>
                </a:solidFill>
                <a:latin typeface="Aptos"/>
              </a:defRPr>
            </a:pPr>
            <a:r>
              <a:t>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696F7D"/>
                </a:solidFill>
                <a:latin typeface="Aptos"/>
              </a:defRPr>
            </a:pPr>
            <a:r>
              <a:t>A two-sample test was used to assess whether average sales differ between two gender groups.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1FB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696F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1">
                <a:solidFill>
                  <a:srgbClr val="262837"/>
                </a:solidFill>
                <a:latin typeface="Aptos"/>
              </a:defRPr>
            </a:pPr>
            <a:r>
              <a:t>H₀  No statistically significant difference in mean sales between the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900" b="1">
                <a:solidFill>
                  <a:srgbClr val="262837"/>
                </a:solidFill>
                <a:latin typeface="Aptos"/>
              </a:defRPr>
            </a:pPr>
            <a:r>
              <a:t>H₁  A statistically significant difference in mean sales exists between the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319272"/>
            <a:ext cx="2962656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1">
                <a:solidFill>
                  <a:srgbClr val="696F7D"/>
                </a:solidFill>
                <a:latin typeface="Aptos"/>
              </a:defRPr>
            </a:pPr>
            <a:r>
              <a:t>T-STATISTIC (reported)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21608"/>
            <a:ext cx="2962656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4C44AA"/>
                </a:solidFill>
                <a:latin typeface="Aptos"/>
              </a:defRPr>
            </a:pPr>
            <a:r>
              <a:t>-0.6826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5468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3319272"/>
            <a:ext cx="2962656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1">
                <a:solidFill>
                  <a:srgbClr val="696F7D"/>
                </a:solidFill>
                <a:latin typeface="Aptos"/>
              </a:defRPr>
            </a:pPr>
            <a:r>
              <a:t>P-VALUE (reported)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721608"/>
            <a:ext cx="2962656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1FB0A1"/>
                </a:solidFill>
                <a:latin typeface="Aptos"/>
              </a:defRPr>
            </a:pPr>
            <a:r>
              <a:t>0.4950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15468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3319272"/>
            <a:ext cx="2962656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1">
                <a:solidFill>
                  <a:srgbClr val="696F7D"/>
                </a:solidFill>
                <a:latin typeface="Aptos"/>
              </a:defRPr>
            </a:pPr>
            <a:r>
              <a:t>SIGNIFICANCE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721608"/>
            <a:ext cx="2962656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F46366"/>
                </a:solidFill>
                <a:latin typeface="Aptos"/>
              </a:defRPr>
            </a:pPr>
            <a:r>
              <a:t>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1042416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0">
                <a:solidFill>
                  <a:srgbClr val="262837"/>
                </a:solidFill>
                <a:latin typeface="Aptos"/>
              </a:defRPr>
            </a:pPr>
            <a:r>
              <a:t>Interpretation: Because p &gt; 0.05, fail to reject H₀. The available data does not provide sufficient evidence of a statistically significant difference.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97880"/>
            <a:ext cx="1042416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100" b="0">
                <a:solidFill>
                  <a:srgbClr val="696F7D"/>
                </a:solidFill>
                <a:latin typeface="Aptos"/>
              </a:defRPr>
            </a:pPr>
            <a:r>
              <a:t>Confirm that the test method and values match the executed notebook before submitting.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800" b="1">
                <a:solidFill>
                  <a:srgbClr val="1A1843"/>
                </a:solidFill>
                <a:latin typeface="Aptos"/>
              </a:defRPr>
            </a:pPr>
            <a:r>
              <a:t>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696F7D"/>
                </a:solidFill>
                <a:latin typeface="Aptos"/>
              </a:defRPr>
            </a:pPr>
            <a:r>
              <a:t>Translate analytical findings into practical next steps for a business audience.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1FB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defRPr sz="1000" b="1">
                <a:solidFill>
                  <a:srgbClr val="696F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500" b="1">
                <a:solidFill>
                  <a:srgbClr val="4C44AA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029200" cy="33832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Product revenue rankings help identify items to monitor.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Category-level analysis highlights areas of stronger sales.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City-level analysis supports regional comparisons.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Hypothesis testing helps distinguish observed differences from statistically supported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500" b="1">
                <a:solidFill>
                  <a:srgbClr val="1FB0A1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937760" cy="338328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Review stock and promotions for high-revenue products.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Investigate city-level differences before allocating marketing budgets.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Track KPIs regularly and refresh the dashboard as new data arrives.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Avoid causal claims from descriptive analysis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500" b="1">
                <a:solidFill>
                  <a:srgbClr val="ADA9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987552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From data 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987552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100" b="0">
                <a:solidFill>
                  <a:srgbClr val="E1E4F5"/>
                </a:solidFill>
                <a:latin typeface="Aptos"/>
              </a:defRPr>
            </a:pPr>
            <a:r>
              <a:t>This project brings together KPI analysis, product and location comparisons, and statistical validation to communicate findings clearly.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FB0A1"/>
                </a:solidFill>
                <a:latin typeface="Aptos"/>
              </a:defRPr>
            </a:pPr>
            <a:r>
              <a:t>Skills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105156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Python  •  Pandas  •  Matplotlib  •  Data Storytelling  •  Hypothesis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457200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600" b="1">
                <a:solidFill>
                  <a:srgbClr val="ADA9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